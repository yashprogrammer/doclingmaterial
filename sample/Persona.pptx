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embeddedFontLst>
    <p:embeddedFont>
      <p:font typeface="Google Sans"/>
      <p:regular r:id="rId8"/>
      <p:bold r:id="rId9"/>
      <p:italic r:id="rId10"/>
      <p:boldItalic r:id="rId1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font" Target="fonts/GoogleSans-boldItalic.fntdata"/><Relationship Id="rId10" Type="http://schemas.openxmlformats.org/officeDocument/2006/relationships/font" Target="fonts/GoogleSans-italic.fntdata"/><Relationship Id="rId9" Type="http://schemas.openxmlformats.org/officeDocument/2006/relationships/font" Target="fonts/GoogleSans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font" Target="fonts/GoogleSans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28ad8881131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g28ad8881131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451525" y="461325"/>
            <a:ext cx="2758200" cy="27582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451450" y="3219525"/>
            <a:ext cx="2758200" cy="4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00">
                <a:solidFill>
                  <a:srgbClr val="1967D2"/>
                </a:solidFill>
                <a:latin typeface="Google Sans"/>
                <a:ea typeface="Google Sans"/>
                <a:cs typeface="Google Sans"/>
                <a:sym typeface="Google Sans"/>
              </a:rPr>
              <a:t>Meera Sharma</a:t>
            </a:r>
            <a:endParaRPr b="1" i="0" sz="1800" u="none" cap="none" strike="noStrike">
              <a:solidFill>
                <a:srgbClr val="1967D2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323950" y="3614500"/>
            <a:ext cx="1501800" cy="12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Age: </a:t>
            </a:r>
            <a:endParaRPr b="1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">
                <a:latin typeface="Google Sans"/>
                <a:ea typeface="Google Sans"/>
                <a:cs typeface="Google Sans"/>
                <a:sym typeface="Google Sans"/>
              </a:rPr>
              <a:t>Tech comfort</a:t>
            </a:r>
            <a:r>
              <a:rPr b="1" i="0" lang="en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: </a:t>
            </a:r>
            <a:endParaRPr b="1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Hometown: </a:t>
            </a:r>
            <a:endParaRPr b="1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Family: </a:t>
            </a:r>
            <a:endParaRPr b="1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Occupation:</a:t>
            </a:r>
            <a:endParaRPr b="1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1707850" y="3614500"/>
            <a:ext cx="1817400" cy="12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latin typeface="Google Sans"/>
                <a:ea typeface="Google Sans"/>
                <a:cs typeface="Google Sans"/>
                <a:sym typeface="Google Sans"/>
              </a:rPr>
              <a:t>29</a:t>
            </a:r>
            <a:endParaRPr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High</a:t>
            </a:r>
            <a:endParaRPr i="0" sz="1400" u="none" cap="none" strike="noStrik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latin typeface="Google Sans"/>
                <a:ea typeface="Google Sans"/>
                <a:cs typeface="Google Sans"/>
                <a:sym typeface="Google Sans"/>
              </a:rPr>
              <a:t>Delhi</a:t>
            </a:r>
            <a:endParaRPr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300">
                <a:latin typeface="Google Sans"/>
                <a:ea typeface="Google Sans"/>
                <a:cs typeface="Google Sans"/>
                <a:sym typeface="Google Sans"/>
              </a:rPr>
              <a:t>Mother of a 2-year-old daughter</a:t>
            </a:r>
            <a:endParaRPr sz="1300"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200"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300">
                <a:latin typeface="Google Sans"/>
                <a:ea typeface="Google Sans"/>
                <a:cs typeface="Google Sans"/>
                <a:sym typeface="Google Sans"/>
              </a:rPr>
              <a:t>Marketing Manager</a:t>
            </a:r>
            <a:endParaRPr sz="130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3651375" y="461325"/>
            <a:ext cx="5035800" cy="9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1" lang="en" sz="1500">
                <a:latin typeface="Google Sans"/>
                <a:ea typeface="Google Sans"/>
                <a:cs typeface="Google Sans"/>
                <a:sym typeface="Google Sans"/>
              </a:rPr>
              <a:t>“I want the best for my daughter and the planet. If I can find eco-friendly clothes that are both beautiful and sustainable, and make some extra space by reselling them, it's a win-win.”</a:t>
            </a:r>
            <a:endParaRPr i="1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3651375" y="1492000"/>
            <a:ext cx="2522700" cy="19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" sz="1900" u="none" cap="none" strike="noStrike">
                <a:solidFill>
                  <a:srgbClr val="196702"/>
                </a:solidFill>
                <a:latin typeface="Google Sans"/>
                <a:ea typeface="Google Sans"/>
                <a:cs typeface="Google Sans"/>
                <a:sym typeface="Google Sans"/>
              </a:rPr>
              <a:t>Goals</a:t>
            </a:r>
            <a:r>
              <a:rPr i="0" lang="en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 </a:t>
            </a:r>
            <a:endParaRPr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Google Sans"/>
              <a:buChar char="●"/>
            </a:pPr>
            <a:r>
              <a:rPr lang="en" sz="1000">
                <a:latin typeface="Google Sans"/>
                <a:ea typeface="Google Sans"/>
                <a:cs typeface="Google Sans"/>
                <a:sym typeface="Google Sans"/>
              </a:rPr>
              <a:t>Wants to purchase eco-friendly and sustainable clothing for her child.</a:t>
            </a:r>
            <a:endParaRPr sz="1000">
              <a:latin typeface="Google Sans"/>
              <a:ea typeface="Google Sans"/>
              <a:cs typeface="Google Sans"/>
              <a:sym typeface="Google Sans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Font typeface="Google Sans"/>
              <a:buChar char="●"/>
            </a:pPr>
            <a:r>
              <a:rPr lang="en" sz="1000">
                <a:latin typeface="Google Sans"/>
                <a:ea typeface="Google Sans"/>
                <a:cs typeface="Google Sans"/>
                <a:sym typeface="Google Sans"/>
              </a:rPr>
              <a:t>Looking for ways to resell outgrown clothes to make extra money and clear space at home.</a:t>
            </a:r>
            <a:endParaRPr sz="7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000">
                <a:latin typeface="Google Sans"/>
                <a:ea typeface="Google Sans"/>
                <a:cs typeface="Google Sans"/>
                <a:sym typeface="Google Sans"/>
              </a:rPr>
              <a:t>Prefers an easy, guided reselling process with minimal hassle.</a:t>
            </a:r>
            <a:endParaRPr sz="700">
              <a:solidFill>
                <a:schemeClr val="dk1"/>
              </a:solidFill>
            </a:endParaRPr>
          </a:p>
        </p:txBody>
      </p:sp>
      <p:sp>
        <p:nvSpPr>
          <p:cNvPr id="60" name="Google Shape;60;p13"/>
          <p:cNvSpPr txBox="1"/>
          <p:nvPr/>
        </p:nvSpPr>
        <p:spPr>
          <a:xfrm>
            <a:off x="6326475" y="1492000"/>
            <a:ext cx="2522700" cy="19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900" u="none" cap="none" strike="noStrike">
                <a:solidFill>
                  <a:srgbClr val="C5221F"/>
                </a:solidFill>
                <a:latin typeface="Google Sans"/>
                <a:ea typeface="Google Sans"/>
                <a:cs typeface="Google Sans"/>
                <a:sym typeface="Google Sans"/>
              </a:rPr>
              <a:t>Frustrations</a:t>
            </a:r>
            <a:r>
              <a:rPr b="1" i="0" lang="en" sz="1800" u="none" cap="none" strike="noStrik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 </a:t>
            </a:r>
            <a:endParaRPr b="1" i="0" sz="1800" u="none" cap="none" strike="noStrik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Google Sans"/>
              <a:buChar char="●"/>
            </a:pPr>
            <a:r>
              <a:rPr lang="en" sz="1000">
                <a:latin typeface="Google Sans"/>
                <a:ea typeface="Google Sans"/>
                <a:cs typeface="Google Sans"/>
                <a:sym typeface="Google Sans"/>
              </a:rPr>
              <a:t>Concerns about the quality</a:t>
            </a:r>
            <a:r>
              <a:rPr b="1" lang="en" sz="1100">
                <a:solidFill>
                  <a:schemeClr val="dk1"/>
                </a:solidFill>
              </a:rPr>
              <a:t> </a:t>
            </a:r>
            <a:r>
              <a:rPr lang="en" sz="1000">
                <a:latin typeface="Google Sans"/>
                <a:ea typeface="Google Sans"/>
                <a:cs typeface="Google Sans"/>
                <a:sym typeface="Google Sans"/>
              </a:rPr>
              <a:t>and hygiene of second-hand clothes when buying online.</a:t>
            </a:r>
            <a:endParaRPr sz="1000">
              <a:latin typeface="Google Sans"/>
              <a:ea typeface="Google Sans"/>
              <a:cs typeface="Google Sans"/>
              <a:sym typeface="Google Sans"/>
            </a:endParaRPr>
          </a:p>
          <a:p>
            <a: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Google Sans"/>
              <a:buChar char="●"/>
            </a:pPr>
            <a:r>
              <a:rPr lang="en" sz="1000">
                <a:latin typeface="Google Sans"/>
                <a:ea typeface="Google Sans"/>
                <a:cs typeface="Google Sans"/>
                <a:sym typeface="Google Sans"/>
              </a:rPr>
              <a:t>Feels there are limited options for premium eco-friendly clothes in the market.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1" name="Google Shape;61;p13"/>
          <p:cNvSpPr txBox="1"/>
          <p:nvPr/>
        </p:nvSpPr>
        <p:spPr>
          <a:xfrm>
            <a:off x="3651375" y="3547775"/>
            <a:ext cx="5197800" cy="1242300"/>
          </a:xfrm>
          <a:prstGeom prst="rect">
            <a:avLst/>
          </a:prstGeom>
          <a:noFill/>
          <a:ln cap="flat" cmpd="sng" w="2857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latin typeface="Google Sans"/>
                <a:ea typeface="Google Sans"/>
                <a:cs typeface="Google Sans"/>
                <a:sym typeface="Google Sans"/>
              </a:rPr>
              <a:t>Meera, a marketing manager and mother of a 2-year-old daughter, is passionate about sustainability and wants to ensure that her child wears eco-friendly clothing. She’s already mindful of her family’s environmental footprint and tries to incorporate sustainable practices into her lifestyle.</a:t>
            </a:r>
            <a:endParaRPr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2" name="Google Shape;62;p13"/>
          <p:cNvSpPr txBox="1"/>
          <p:nvPr/>
        </p:nvSpPr>
        <p:spPr>
          <a:xfrm>
            <a:off x="985225" y="1442025"/>
            <a:ext cx="1666200" cy="79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/>
          <p:nvPr/>
        </p:nvSpPr>
        <p:spPr>
          <a:xfrm>
            <a:off x="451525" y="461325"/>
            <a:ext cx="2758200" cy="27582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8" name="Google Shape;68;p14"/>
          <p:cNvSpPr txBox="1"/>
          <p:nvPr/>
        </p:nvSpPr>
        <p:spPr>
          <a:xfrm>
            <a:off x="451450" y="3219525"/>
            <a:ext cx="2758200" cy="4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00">
                <a:solidFill>
                  <a:srgbClr val="1967D2"/>
                </a:solidFill>
                <a:latin typeface="Google Sans"/>
                <a:ea typeface="Google Sans"/>
                <a:cs typeface="Google Sans"/>
                <a:sym typeface="Google Sans"/>
              </a:rPr>
              <a:t>Rajiv Agarwal</a:t>
            </a:r>
            <a:endParaRPr b="1" i="0" sz="1800" u="none" cap="none" strike="noStrike">
              <a:solidFill>
                <a:srgbClr val="1967D2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9" name="Google Shape;69;p14"/>
          <p:cNvSpPr txBox="1"/>
          <p:nvPr/>
        </p:nvSpPr>
        <p:spPr>
          <a:xfrm>
            <a:off x="323950" y="3614500"/>
            <a:ext cx="1501800" cy="12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Age: </a:t>
            </a:r>
            <a:endParaRPr b="1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">
                <a:latin typeface="Google Sans"/>
                <a:ea typeface="Google Sans"/>
                <a:cs typeface="Google Sans"/>
                <a:sym typeface="Google Sans"/>
              </a:rPr>
              <a:t>Tech comfort</a:t>
            </a:r>
            <a:r>
              <a:rPr b="1" i="0" lang="en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: </a:t>
            </a:r>
            <a:endParaRPr b="1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Hometown: </a:t>
            </a:r>
            <a:endParaRPr b="1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Family: </a:t>
            </a:r>
            <a:endParaRPr b="1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Occupation:</a:t>
            </a:r>
            <a:endParaRPr b="1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70" name="Google Shape;70;p14"/>
          <p:cNvSpPr txBox="1"/>
          <p:nvPr/>
        </p:nvSpPr>
        <p:spPr>
          <a:xfrm>
            <a:off x="1707850" y="3614500"/>
            <a:ext cx="1817400" cy="12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latin typeface="Google Sans"/>
                <a:ea typeface="Google Sans"/>
                <a:cs typeface="Google Sans"/>
                <a:sym typeface="Google Sans"/>
              </a:rPr>
              <a:t>36</a:t>
            </a:r>
            <a:endParaRPr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High</a:t>
            </a:r>
            <a:endParaRPr i="0" sz="1400" u="none" cap="none" strike="noStrik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latin typeface="Google Sans"/>
                <a:ea typeface="Google Sans"/>
                <a:cs typeface="Google Sans"/>
                <a:sym typeface="Google Sans"/>
              </a:rPr>
              <a:t>Bengaluru</a:t>
            </a:r>
            <a:endParaRPr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300">
                <a:latin typeface="Google Sans"/>
                <a:ea typeface="Google Sans"/>
                <a:cs typeface="Google Sans"/>
                <a:sym typeface="Google Sans"/>
              </a:rPr>
              <a:t>Father </a:t>
            </a:r>
            <a:r>
              <a:rPr lang="en" sz="1300">
                <a:latin typeface="Google Sans"/>
                <a:ea typeface="Google Sans"/>
                <a:cs typeface="Google Sans"/>
                <a:sym typeface="Google Sans"/>
              </a:rPr>
              <a:t>of a 5-year-old son</a:t>
            </a:r>
            <a:endParaRPr sz="1300"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200"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300">
                <a:latin typeface="Google Sans"/>
                <a:ea typeface="Google Sans"/>
                <a:cs typeface="Google Sans"/>
                <a:sym typeface="Google Sans"/>
              </a:rPr>
              <a:t>IT Professional</a:t>
            </a:r>
            <a:endParaRPr sz="130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71" name="Google Shape;71;p14"/>
          <p:cNvSpPr txBox="1"/>
          <p:nvPr/>
        </p:nvSpPr>
        <p:spPr>
          <a:xfrm>
            <a:off x="3651375" y="461325"/>
            <a:ext cx="5035800" cy="9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1" lang="en" sz="1500">
                <a:latin typeface="Google Sans"/>
                <a:ea typeface="Google Sans"/>
                <a:cs typeface="Google Sans"/>
                <a:sym typeface="Google Sans"/>
              </a:rPr>
              <a:t>“</a:t>
            </a:r>
            <a:r>
              <a:rPr i="1" lang="en" sz="1500">
                <a:latin typeface="Google Sans"/>
                <a:ea typeface="Google Sans"/>
                <a:cs typeface="Google Sans"/>
                <a:sym typeface="Google Sans"/>
              </a:rPr>
              <a:t>I believe in getting the best value for my money. Branded clothes for my son should last, and when they don’t fit anymore, I want a simple, safe way to resell them without any hassle.</a:t>
            </a:r>
            <a:r>
              <a:rPr i="1" lang="en" sz="1500">
                <a:latin typeface="Google Sans"/>
                <a:ea typeface="Google Sans"/>
                <a:cs typeface="Google Sans"/>
                <a:sym typeface="Google Sans"/>
              </a:rPr>
              <a:t>”</a:t>
            </a:r>
            <a:endParaRPr i="1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72" name="Google Shape;72;p14"/>
          <p:cNvSpPr txBox="1"/>
          <p:nvPr/>
        </p:nvSpPr>
        <p:spPr>
          <a:xfrm>
            <a:off x="3651375" y="1492000"/>
            <a:ext cx="2522700" cy="19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" sz="1900" u="none" cap="none" strike="noStrike">
                <a:solidFill>
                  <a:srgbClr val="196702"/>
                </a:solidFill>
                <a:latin typeface="Google Sans"/>
                <a:ea typeface="Google Sans"/>
                <a:cs typeface="Google Sans"/>
                <a:sym typeface="Google Sans"/>
              </a:rPr>
              <a:t>Goals</a:t>
            </a:r>
            <a:r>
              <a:rPr i="0" lang="en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 </a:t>
            </a:r>
            <a:endParaRPr>
              <a:latin typeface="Google Sans"/>
              <a:ea typeface="Google Sans"/>
              <a:cs typeface="Google Sans"/>
              <a:sym typeface="Google Sans"/>
            </a:endParaRPr>
          </a:p>
          <a:p>
            <a: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Google Sans"/>
              <a:buChar char="●"/>
            </a:pPr>
            <a:r>
              <a:rPr lang="en" sz="1000">
                <a:latin typeface="Google Sans"/>
                <a:ea typeface="Google Sans"/>
                <a:cs typeface="Google Sans"/>
                <a:sym typeface="Google Sans"/>
              </a:rPr>
              <a:t>Primarily interested in branded and durable children's clothing that lasts longer.</a:t>
            </a:r>
            <a:endParaRPr sz="1000">
              <a:latin typeface="Google Sans"/>
              <a:ea typeface="Google Sans"/>
              <a:cs typeface="Google Sans"/>
              <a:sym typeface="Google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000">
                <a:latin typeface="Google Sans"/>
                <a:ea typeface="Google Sans"/>
                <a:cs typeface="Google Sans"/>
                <a:sym typeface="Google Sans"/>
              </a:rPr>
              <a:t>Seeks to resell outgrown clothes as children grow quickly and would like to make extra money.</a:t>
            </a:r>
            <a:endParaRPr sz="1000">
              <a:latin typeface="Google Sans"/>
              <a:ea typeface="Google Sans"/>
              <a:cs typeface="Google Sans"/>
              <a:sym typeface="Google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000">
                <a:latin typeface="Google Sans"/>
                <a:ea typeface="Google Sans"/>
                <a:cs typeface="Google Sans"/>
                <a:sym typeface="Google Sans"/>
              </a:rPr>
              <a:t>Prefers a guided reselling process with clear instructions and minimal effort.</a:t>
            </a:r>
            <a:endParaRPr sz="100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73" name="Google Shape;73;p14"/>
          <p:cNvSpPr txBox="1"/>
          <p:nvPr/>
        </p:nvSpPr>
        <p:spPr>
          <a:xfrm>
            <a:off x="6326475" y="1492000"/>
            <a:ext cx="2522700" cy="19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900" u="none" cap="none" strike="noStrike">
                <a:solidFill>
                  <a:srgbClr val="C5221F"/>
                </a:solidFill>
                <a:latin typeface="Google Sans"/>
                <a:ea typeface="Google Sans"/>
                <a:cs typeface="Google Sans"/>
                <a:sym typeface="Google Sans"/>
              </a:rPr>
              <a:t>Frustrations</a:t>
            </a:r>
            <a:r>
              <a:rPr b="1" i="0" lang="en" sz="1800" u="none" cap="none" strike="noStrik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 </a:t>
            </a:r>
            <a:endParaRPr b="1" i="0" sz="1800" u="none" cap="none" strike="noStrik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Google Sans"/>
              <a:buChar char="●"/>
            </a:pPr>
            <a:r>
              <a:rPr lang="en" sz="1000">
                <a:latin typeface="Google Sans"/>
                <a:ea typeface="Google Sans"/>
                <a:cs typeface="Google Sans"/>
                <a:sym typeface="Google Sans"/>
              </a:rPr>
              <a:t>Worried about the quality and hygiene of second-hand clothes when purchasing for his child.</a:t>
            </a:r>
            <a:endParaRPr sz="1000">
              <a:latin typeface="Google Sans"/>
              <a:ea typeface="Google Sans"/>
              <a:cs typeface="Google Sans"/>
              <a:sym typeface="Google Sans"/>
            </a:endParaRPr>
          </a:p>
          <a:p>
            <a: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Google Sans"/>
              <a:buChar char="●"/>
            </a:pPr>
            <a:r>
              <a:rPr lang="en" sz="1000">
                <a:latin typeface="Google Sans"/>
                <a:ea typeface="Google Sans"/>
                <a:cs typeface="Google Sans"/>
                <a:sym typeface="Google Sans"/>
              </a:rPr>
              <a:t>Finds the reselling process complicated on existing platforms; prefers a simplified approach.</a:t>
            </a:r>
            <a:endParaRPr sz="1000">
              <a:latin typeface="Google Sans"/>
              <a:ea typeface="Google Sans"/>
              <a:cs typeface="Google Sans"/>
              <a:sym typeface="Google Sans"/>
            </a:endParaRPr>
          </a:p>
          <a:p>
            <a: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Google Sans"/>
              <a:buChar char="●"/>
            </a:pPr>
            <a:r>
              <a:rPr lang="en" sz="1000">
                <a:latin typeface="Google Sans"/>
                <a:ea typeface="Google Sans"/>
                <a:cs typeface="Google Sans"/>
                <a:sym typeface="Google Sans"/>
              </a:rPr>
              <a:t>Concerns over the safety and transparency of payment processes</a:t>
            </a:r>
            <a:endParaRPr sz="1000">
              <a:latin typeface="Google Sans"/>
              <a:ea typeface="Google Sans"/>
              <a:cs typeface="Google Sans"/>
              <a:sym typeface="Google Sans"/>
            </a:endParaRPr>
          </a:p>
          <a:p>
            <a: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Google Sans"/>
              <a:buChar char="●"/>
            </a:pPr>
            <a:r>
              <a:t/>
            </a:r>
            <a:endParaRPr sz="1000"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74" name="Google Shape;74;p14"/>
          <p:cNvSpPr txBox="1"/>
          <p:nvPr/>
        </p:nvSpPr>
        <p:spPr>
          <a:xfrm>
            <a:off x="3651375" y="3547775"/>
            <a:ext cx="5197800" cy="1242300"/>
          </a:xfrm>
          <a:prstGeom prst="rect">
            <a:avLst/>
          </a:prstGeom>
          <a:noFill/>
          <a:ln cap="flat" cmpd="sng" w="2857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latin typeface="Google Sans"/>
                <a:ea typeface="Google Sans"/>
                <a:cs typeface="Google Sans"/>
                <a:sym typeface="Google Sans"/>
              </a:rPr>
              <a:t>Rajiv, a tech-savvy IT professional and father of a 5-year-old son, wants to buy branded clothes for his son but finds that he quickly outgrows them. He’s interested in finding a platform where he can both buy branded items and easily resell them when his son no longer fits into them.</a:t>
            </a: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75" name="Google Shape;75;p14"/>
          <p:cNvSpPr txBox="1"/>
          <p:nvPr/>
        </p:nvSpPr>
        <p:spPr>
          <a:xfrm>
            <a:off x="985225" y="1442025"/>
            <a:ext cx="1666200" cy="79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500">
                <a:latin typeface="Google Sans"/>
                <a:ea typeface="Google Sans"/>
                <a:cs typeface="Google Sans"/>
                <a:sym typeface="Google Sans"/>
              </a:rPr>
              <a:t>Add image that represents this persona</a:t>
            </a:r>
            <a:endParaRPr sz="1100"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76" name="Google Shape;76;p14"/>
          <p:cNvPicPr preferRelativeResize="0"/>
          <p:nvPr/>
        </p:nvPicPr>
        <p:blipFill rotWithShape="1">
          <a:blip r:embed="rId3">
            <a:alphaModFix/>
          </a:blip>
          <a:srcRect b="0" l="22385" r="10952" t="0"/>
          <a:stretch/>
        </p:blipFill>
        <p:spPr>
          <a:xfrm>
            <a:off x="451525" y="461325"/>
            <a:ext cx="2758200" cy="275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